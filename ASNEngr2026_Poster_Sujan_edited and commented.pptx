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</p:sldIdLst>
  <p:sldSz cx="27432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14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00" cy="36576000"/>
          </a:xfrm>
          <a:prstGeom prst="rect">
            <a:avLst/>
          </a:prstGeom>
          <a:solidFill>
            <a:srgbClr val="FB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8223992" y="32156091"/>
            <a:ext cx="8430767" cy="2782824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7432000" cy="3680764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3680764"/>
            <a:ext cx="27432000" cy="82296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933492"/>
            <a:ext cx="25877520" cy="3611879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933492"/>
            <a:ext cx="82296" cy="361187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77240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77240" y="18254263"/>
            <a:ext cx="6249924" cy="64008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9771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19771" y="18254263"/>
            <a:ext cx="624992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3862303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3862303" y="18254263"/>
            <a:ext cx="6249924" cy="64008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0404835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0404835" y="18254263"/>
            <a:ext cx="624992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77240" y="10547907"/>
            <a:ext cx="12792456" cy="2129789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77240" y="10547907"/>
            <a:ext cx="12792456" cy="54864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77240" y="20884687"/>
            <a:ext cx="17154144" cy="6490617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8223992" y="24731263"/>
            <a:ext cx="8430767" cy="2644041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777240" y="32156092"/>
            <a:ext cx="17154144" cy="2782824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77240" y="32156092"/>
            <a:ext cx="1715414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12018" y="1123809"/>
            <a:ext cx="18249899" cy="7189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lang="en-US" sz="4800" b="1" i="0" dirty="0">
                <a:solidFill>
                  <a:srgbClr val="FFFFFF"/>
                </a:solidFill>
                <a:latin typeface="Roboto"/>
              </a:rPr>
              <a:t>Wearable </a:t>
            </a:r>
            <a:r>
              <a:rPr lang="en-US" sz="4800" b="1" i="0" dirty="0" err="1">
                <a:solidFill>
                  <a:srgbClr val="FFFFFF"/>
                </a:solidFill>
                <a:latin typeface="Roboto"/>
              </a:rPr>
              <a:t>sEMG</a:t>
            </a:r>
            <a:r>
              <a:rPr lang="en-US" sz="4800" b="1" i="0" dirty="0">
                <a:solidFill>
                  <a:srgbClr val="FFFFFF"/>
                </a:solidFill>
                <a:latin typeface="Roboto"/>
              </a:rPr>
              <a:t> fatigue monitoring on roofers in hot environment</a:t>
            </a:r>
            <a:endParaRPr sz="4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976" y="2053449"/>
            <a:ext cx="2587752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3200" b="0" i="0" dirty="0">
                <a:solidFill>
                  <a:srgbClr val="FFFFFF"/>
                </a:solidFill>
                <a:latin typeface="Roboto"/>
              </a:rPr>
              <a:t>Sujan Acharya and Krishna P. Kisi, Ph.D., P.E. · Texas State University</a:t>
            </a:r>
          </a:p>
        </p:txBody>
      </p:sp>
      <p:pic>
        <p:nvPicPr>
          <p:cNvPr id="8" name="Picture 7" descr="tx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62" y="2357741"/>
            <a:ext cx="4163838" cy="9351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1043" y="5149839"/>
            <a:ext cx="11497057" cy="33316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100" b="0" i="0" dirty="0">
                <a:solidFill>
                  <a:srgbClr val="34302B"/>
                </a:solidFill>
                <a:latin typeface="Roboto"/>
              </a:rPr>
              <a:t>Nepali migrants build much of the Gulf, roofing through summer afternoons on short contracts, with musculoskeletal disorders carried home rather than recorded.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100" b="0" i="0" dirty="0">
                <a:solidFill>
                  <a:srgbClr val="34302B"/>
                </a:solidFill>
                <a:latin typeface="Roboto"/>
              </a:rPr>
              <a:t>Muscle fatigue precedes those disorders and the falls that injure roofers. Surface EMG (sEMG) tracks fatigue as it builds, before a worker feels it, so a body-worn sensor could warn in time. Nearly all of that evidence comes from cool laboratories.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 b="0" i="0" dirty="0">
                <a:solidFill>
                  <a:srgbClr val="34302B"/>
                </a:solidFill>
                <a:latin typeface="Roboto"/>
              </a:rPr>
              <a:t>We ran one protocol twice: indoors on a 30° platform, then on a real roof at 37–39 °C. Nine of ten channels were usable indoors, four on the roof, and the model fell to 49%. Heat and sweat took the leg channels first, so placement decides whether a study measures fatigue or noise. Nepal builds the same roofs, with no field data of this kind.</a:t>
            </a:r>
          </a:p>
        </p:txBody>
      </p:sp>
      <p:pic>
        <p:nvPicPr>
          <p:cNvPr id="11" name="Picture 10" descr="gulf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967" y="5207812"/>
            <a:ext cx="3843175" cy="2651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213967" y="5207812"/>
            <a:ext cx="3843175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13967" y="7969300"/>
            <a:ext cx="3843175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Gulf towers</a:t>
            </a:r>
          </a:p>
        </p:txBody>
      </p:sp>
      <p:pic>
        <p:nvPicPr>
          <p:cNvPr id="14" name="Picture 13" descr="gulf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8311" y="5207812"/>
            <a:ext cx="4401412" cy="2651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7258311" y="5207812"/>
            <a:ext cx="4401412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258311" y="7969300"/>
            <a:ext cx="4401412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shift change in the heat</a:t>
            </a:r>
          </a:p>
        </p:txBody>
      </p:sp>
      <p:pic>
        <p:nvPicPr>
          <p:cNvPr id="17" name="Picture 16" descr="nepal_si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0892" y="5207812"/>
            <a:ext cx="3535679" cy="26517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1860892" y="5207812"/>
            <a:ext cx="3535679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860892" y="7969300"/>
            <a:ext cx="3535679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roof work at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6794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dirty="0">
                <a:solidFill>
                  <a:srgbClr val="B4531A"/>
                </a:solidFill>
                <a:latin typeface="Roboto"/>
              </a:rPr>
              <a:t>4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65041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6794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REAL 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sensor channels we could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out of 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9771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2.3×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9326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1.3×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307574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9771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9326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REAL ROOF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4092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signal working vs resting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4092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higher is easier to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2303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51857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19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6850106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862303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151857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REAL ROOF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36624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signal while resting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36624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µV at the lower 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404835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94389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8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3392638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404835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POSSIBLE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694389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WE CAN READ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679156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muscle-and-posture tests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679156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kneeling and stooping</a:t>
            </a:r>
          </a:p>
        </p:txBody>
      </p:sp>
      <p:pic>
        <p:nvPicPr>
          <p:cNvPr id="67" name="Picture 66" descr="field_roo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62303" y="10547907"/>
            <a:ext cx="3391673" cy="2543755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13862303" y="10547907"/>
            <a:ext cx="3391673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862303" y="13201391"/>
            <a:ext cx="339167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>
                <a:solidFill>
                  <a:srgbClr val="6E6862"/>
                </a:solidFill>
                <a:latin typeface="Roboto"/>
              </a:rPr>
              <a:t>our roof platform</a:t>
            </a:r>
          </a:p>
        </p:txBody>
      </p:sp>
      <p:pic>
        <p:nvPicPr>
          <p:cNvPr id="70" name="Picture 69" descr="field_placemen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55145" y="10547907"/>
            <a:ext cx="1914175" cy="2543755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17455145" y="10547907"/>
            <a:ext cx="1914175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455145" y="13201391"/>
            <a:ext cx="2115344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on the worker</a:t>
            </a:r>
          </a:p>
        </p:txBody>
      </p:sp>
      <p:pic>
        <p:nvPicPr>
          <p:cNvPr id="73" name="Picture 72" descr="sensor_devic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70489" y="10547907"/>
            <a:ext cx="3491428" cy="2543755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19570489" y="10547907"/>
            <a:ext cx="3491428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9570489" y="13201391"/>
            <a:ext cx="3491428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sensor itself</a:t>
            </a:r>
          </a:p>
        </p:txBody>
      </p:sp>
      <p:pic>
        <p:nvPicPr>
          <p:cNvPr id="76" name="Picture 75" descr="field_setu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63086" y="10547907"/>
            <a:ext cx="3391673" cy="2543755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23263086" y="10547907"/>
            <a:ext cx="3391673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3263086" y="13201391"/>
            <a:ext cx="339167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field station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412360" y="13704311"/>
            <a:ext cx="13382882" cy="24871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3862303" y="16191479"/>
            <a:ext cx="12792456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One session day: 32.8 °C through the morning block, 38.9 °C by five.   NOAA station KHYI, San Marcos, 14 August 2025.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10822227"/>
            <a:ext cx="12243816" cy="53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 dirty="0">
                <a:solidFill>
                  <a:srgbClr val="501414"/>
                </a:solidFill>
                <a:latin typeface="Roboto"/>
              </a:rPr>
              <a:t>A channel counts only if it passes all three checks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1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1   Above the noise floor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1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 dirty="0">
                <a:solidFill>
                  <a:srgbClr val="34302B"/>
                </a:solidFill>
                <a:latin typeface="Roboto"/>
              </a:rPr>
              <a:t>bigger than the sensor's own 3–5 µV noise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1560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364480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2   Above its own rest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64480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34302B"/>
                </a:solidFill>
                <a:latin typeface="Roboto"/>
              </a:rPr>
              <a:t>working signal beats the same channel at rest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99888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512808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3   In the muscle band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12808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34302B"/>
                </a:solidFill>
                <a:latin typeface="Roboto"/>
              </a:rPr>
              <a:t>median frequency between 50 and 150 Hz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48216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lab_roof_task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6993" y="12878865"/>
            <a:ext cx="5347936" cy="3202885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2376993" y="12878865"/>
            <a:ext cx="5347936" cy="320288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376993" y="16191479"/>
            <a:ext cx="5347936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same 30° platform, indoors</a:t>
            </a:r>
          </a:p>
        </p:txBody>
      </p:sp>
      <p:pic>
        <p:nvPicPr>
          <p:cNvPr id="96" name="Picture 95" descr="sensor_place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6098" y="12878865"/>
            <a:ext cx="4043843" cy="3202885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7926098" y="12878865"/>
            <a:ext cx="4043843" cy="320288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26098" y="16191479"/>
            <a:ext cx="404384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>
                <a:solidFill>
                  <a:srgbClr val="6E6862"/>
                </a:solidFill>
                <a:latin typeface="Roboto"/>
              </a:rPr>
              <a:t>ten muscles, trunk to calf</a:t>
            </a:r>
          </a:p>
        </p:txBody>
      </p:sp>
      <p:pic>
        <p:nvPicPr>
          <p:cNvPr id="103" name="Picture 102" descr="P1_bodyma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" y="21104143"/>
            <a:ext cx="16696944" cy="6035040"/>
          </a:xfrm>
          <a:prstGeom prst="rect">
            <a:avLst/>
          </a:prstGeom>
        </p:spPr>
      </p:pic>
      <p:pic>
        <p:nvPicPr>
          <p:cNvPr id="105" name="Picture 104" descr="sweat_electrod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65158" y="20884687"/>
            <a:ext cx="5748437" cy="3209544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19565158" y="20884687"/>
            <a:ext cx="5748437" cy="3209544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8223992" y="24094231"/>
            <a:ext cx="8430767" cy="435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Illustration</a:t>
            </a:r>
            <a:r>
              <a:rPr lang="en-US" sz="2600" i="1" dirty="0">
                <a:solidFill>
                  <a:srgbClr val="6E6862"/>
                </a:solidFill>
                <a:latin typeface="Roboto"/>
              </a:rPr>
              <a:t> (AI generated)</a:t>
            </a:r>
            <a:endParaRPr sz="2600" b="0" i="1" dirty="0">
              <a:solidFill>
                <a:srgbClr val="6E6862"/>
              </a:solidFill>
              <a:latin typeface="Roboto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412232" y="24793648"/>
            <a:ext cx="7882127" cy="435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501414"/>
                </a:solidFill>
                <a:latin typeface="Roboto"/>
              </a:rPr>
              <a:t>Why this happened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361151" y="25229512"/>
            <a:ext cx="8293608" cy="1972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Sweat breaks the contact, so the signal gets smaller.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Heat and holding a posture lift the resting level.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Small muscles start closest to the noise, so they cross into it first.</a:t>
            </a:r>
          </a:p>
        </p:txBody>
      </p:sp>
      <p:pic>
        <p:nvPicPr>
          <p:cNvPr id="115" name="Picture 114" descr="P2_re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27576471"/>
            <a:ext cx="9255268" cy="3216517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463811" y="30667144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Rest is no longer rest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59847" y="31083196"/>
            <a:ext cx="7564374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19 µV on the roof against 9 µV in the lab. </a:t>
            </a:r>
            <a:endParaRPr lang="en-US" sz="2600" b="0" i="0" dirty="0">
              <a:solidFill>
                <a:srgbClr val="6E6862"/>
              </a:solidFill>
              <a:latin typeface="Roboto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Each dot is one worker.</a:t>
            </a:r>
          </a:p>
        </p:txBody>
      </p:sp>
      <p:pic>
        <p:nvPicPr>
          <p:cNvPr id="118" name="Picture 117" descr="P3_gri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37776" y="27576472"/>
            <a:ext cx="8156448" cy="283464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9637776" y="30612280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Most comparisons are gone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36181" y="31083196"/>
            <a:ext cx="5652244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the leg muscles that matter for balance are the ones we lost</a:t>
            </a:r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8361152" y="27576472"/>
            <a:ext cx="8156447" cy="283464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18361152" y="30612280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The model inherits the damage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570489" y="31083196"/>
            <a:ext cx="6197019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trained one worker at a time, it lands at 49% on roof data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4128" y="33271660"/>
            <a:ext cx="4892040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3000" b="1" i="0" dirty="0">
                <a:solidFill>
                  <a:srgbClr val="FFFF00"/>
                </a:solidFill>
                <a:latin typeface="Roboto"/>
              </a:rPr>
              <a:t>Where Nepal starts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4128" y="33820300"/>
            <a:ext cx="4892040" cy="413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600" b="0" i="0" dirty="0">
                <a:solidFill>
                  <a:srgbClr val="FFFF00"/>
                </a:solidFill>
                <a:latin typeface="Roboto"/>
              </a:rPr>
              <a:t>No roof-worn data exists there.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37376" y="32402980"/>
            <a:ext cx="3432048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"/>
              </a:rPr>
              <a:t>Trunk first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37376" y="32873896"/>
            <a:ext cx="3432048" cy="1307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FFFF00"/>
                </a:solidFill>
                <a:latin typeface="Roboto"/>
              </a:rPr>
              <a:t>both sides of the lower back, plus one leg channel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36208" y="32439556"/>
            <a:ext cx="50292" cy="17419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344912" y="32402980"/>
            <a:ext cx="3432048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"/>
              </a:rPr>
              <a:t>Check the signal live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344912" y="32873896"/>
            <a:ext cx="3432048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FFFF00"/>
                </a:solidFill>
                <a:latin typeface="Roboto"/>
              </a:rPr>
              <a:t>a dead channel cannot be fixed later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143744" y="32439556"/>
            <a:ext cx="50292" cy="13060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4252448" y="32402980"/>
            <a:ext cx="3432048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"/>
              </a:rPr>
              <a:t>Teach it where workers train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252448" y="33289948"/>
            <a:ext cx="3432048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FFFF00"/>
                </a:solidFill>
                <a:latin typeface="Roboto"/>
              </a:rPr>
              <a:t>vocational </a:t>
            </a:r>
            <a:r>
              <a:rPr sz="2600" b="0" i="0" dirty="0" err="1">
                <a:solidFill>
                  <a:srgbClr val="FFFF00"/>
                </a:solidFill>
                <a:latin typeface="Roboto"/>
              </a:rPr>
              <a:t>centres</a:t>
            </a:r>
            <a:r>
              <a:rPr sz="2600" b="0" i="0" dirty="0">
                <a:solidFill>
                  <a:srgbClr val="FFFF00"/>
                </a:solidFill>
                <a:latin typeface="Roboto"/>
              </a:rPr>
              <a:t>, pre-departure briefings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051280" y="32439556"/>
            <a:ext cx="50292" cy="1722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777240" y="35048644"/>
            <a:ext cx="25877520" cy="27432"/>
          </a:xfrm>
          <a:prstGeom prst="rect">
            <a:avLst/>
          </a:prstGeom>
          <a:solidFill>
            <a:srgbClr val="DD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777240" y="35121796"/>
            <a:ext cx="25877520" cy="125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22 workers · 30° platform · one processing pipeline · every number here is computed from the recordings at print time · Limitation: different people in each setting, 13 in the laboratory and 9 on the roof, not the same workers tested twice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Reference</a:t>
            </a:r>
            <a:r>
              <a:rPr lang="en-US" sz="1800" b="0" i="0" dirty="0">
                <a:solidFill>
                  <a:srgbClr val="6E6862"/>
                </a:solidFill>
                <a:latin typeface="Roboto"/>
              </a:rPr>
              <a:t>: Acharya, S., Kisi, K., Gautam, S. R., Mahmud, T., &amp; Kayastha, R. (2025). A high-performance hybrid transformer–LSTM–</a:t>
            </a:r>
            <a:r>
              <a:rPr lang="en-US" sz="1800" b="0" i="0" dirty="0" err="1">
                <a:solidFill>
                  <a:srgbClr val="6E6862"/>
                </a:solidFill>
                <a:latin typeface="Roboto"/>
              </a:rPr>
              <a:t>XGBoost</a:t>
            </a:r>
            <a:r>
              <a:rPr lang="en-US" sz="1800" b="0" i="0" dirty="0">
                <a:solidFill>
                  <a:srgbClr val="6E6862"/>
                </a:solidFill>
                <a:latin typeface="Roboto"/>
              </a:rPr>
              <a:t> model for sEMG-based fatigue detection in simulated roofing postures. Buildings, 15(17), 3005.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Gulf and Nepal photographs: Imre Solt (CC BY-SA 3.0) and Adam Jones (CC BY-SA 2.0), via Wikimedia Commons.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Sweat-on-the-electrode image: made with Google Flow (Nano Banana 2).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010133" y="269863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 dirty="0">
                <a:solidFill>
                  <a:srgbClr val="FFFFFF"/>
                </a:solidFill>
                <a:latin typeface="Roboto"/>
              </a:rPr>
              <a:t>19th Annual </a:t>
            </a:r>
            <a:r>
              <a:rPr sz="3000" b="1" i="0" dirty="0" err="1">
                <a:solidFill>
                  <a:srgbClr val="FFFFFF"/>
                </a:solidFill>
                <a:latin typeface="Roboto"/>
              </a:rPr>
              <a:t>ASNEngr</a:t>
            </a:r>
            <a:r>
              <a:rPr sz="3000" b="1" i="0" dirty="0">
                <a:solidFill>
                  <a:srgbClr val="FFFFFF"/>
                </a:solidFill>
                <a:latin typeface="Roboto"/>
              </a:rPr>
              <a:t> Conference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0760202" y="3150412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 i="0" dirty="0">
                <a:solidFill>
                  <a:srgbClr val="E8D9B8"/>
                </a:solidFill>
                <a:latin typeface="Roboto"/>
              </a:rPr>
              <a:t>Houston, Texas · November 21, 2026</a:t>
            </a:r>
          </a:p>
        </p:txBody>
      </p:sp>
      <p:sp>
        <p:nvSpPr>
          <p:cNvPr id="141" name="Oval 140"/>
          <p:cNvSpPr/>
          <p:nvPr/>
        </p:nvSpPr>
        <p:spPr>
          <a:xfrm>
            <a:off x="777240" y="3964228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00784" y="4002328"/>
            <a:ext cx="24953975" cy="63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000" b="1" i="0" dirty="0">
                <a:solidFill>
                  <a:srgbClr val="501414"/>
                </a:solidFill>
                <a:latin typeface="Roboto"/>
              </a:rPr>
              <a:t>Abstract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77240" y="4759756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777240" y="8746539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00784" y="8784639"/>
            <a:ext cx="24953975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Methodology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7240" y="9542067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77240" y="9715803"/>
            <a:ext cx="127924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501414"/>
                </a:solidFill>
                <a:latin typeface="Roboto"/>
              </a:rPr>
              <a:t>In the laboratory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3862304" y="9715803"/>
            <a:ext cx="127924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>
                <a:solidFill>
                  <a:srgbClr val="501414"/>
                </a:solidFill>
                <a:latin typeface="Roboto"/>
              </a:rPr>
              <a:t>On a real roof</a:t>
            </a:r>
            <a:r>
              <a:rPr lang="en-US" sz="3600" b="1" i="0" dirty="0">
                <a:solidFill>
                  <a:srgbClr val="501414"/>
                </a:solidFill>
                <a:latin typeface="Roboto"/>
              </a:rPr>
              <a:t> mock-up in hot environment</a:t>
            </a:r>
            <a:endParaRPr sz="3600" b="1" i="0" dirty="0">
              <a:solidFill>
                <a:srgbClr val="501414"/>
              </a:solidFill>
              <a:latin typeface="Roboto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7240" y="10337595"/>
            <a:ext cx="12792456" cy="27432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3862304" y="10337595"/>
            <a:ext cx="12792456" cy="27432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77240" y="16731787"/>
            <a:ext cx="12792456" cy="352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34302B"/>
                </a:solidFill>
                <a:latin typeface="Roboto"/>
              </a:rPr>
              <a:t>13 laboratory participants · 9 roof workers · Texas State University IRB #9962</a:t>
            </a:r>
          </a:p>
        </p:txBody>
      </p:sp>
      <p:sp>
        <p:nvSpPr>
          <p:cNvPr id="152" name="Oval 151"/>
          <p:cNvSpPr/>
          <p:nvPr/>
        </p:nvSpPr>
        <p:spPr>
          <a:xfrm>
            <a:off x="777240" y="17284999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00784" y="17323099"/>
            <a:ext cx="24953975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Results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77240" y="18080527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024128" y="32402980"/>
            <a:ext cx="685800" cy="685800"/>
          </a:xfrm>
          <a:prstGeom prst="ellipse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929384" y="32441079"/>
            <a:ext cx="5486400" cy="63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000" b="1" i="0" dirty="0">
                <a:solidFill>
                  <a:srgbClr val="FFFFFF"/>
                </a:solidFill>
                <a:latin typeface="Roboto"/>
              </a:rPr>
              <a:t>Lessons Learned</a:t>
            </a:r>
          </a:p>
        </p:txBody>
      </p:sp>
      <p:sp>
        <p:nvSpPr>
          <p:cNvPr id="157" name="Oval 156"/>
          <p:cNvSpPr/>
          <p:nvPr/>
        </p:nvSpPr>
        <p:spPr>
          <a:xfrm>
            <a:off x="18470880" y="32402980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376135" y="32441079"/>
            <a:ext cx="5486400" cy="63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000" b="1" i="0" dirty="0">
                <a:solidFill>
                  <a:srgbClr val="501414"/>
                </a:solidFill>
                <a:latin typeface="Roboto"/>
              </a:rPr>
              <a:t>Conclusion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8470880" y="33271660"/>
            <a:ext cx="7936992" cy="158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600" b="0" i="0" dirty="0">
                <a:solidFill>
                  <a:srgbClr val="34302B"/>
                </a:solidFill>
                <a:latin typeface="Roboto"/>
              </a:rPr>
              <a:t>Laboratory channel counts do not survive a hot roof: nine become four and accuracy falls to 49%. Validate on the roof, keep the trunk channels, and teach the check where workers train.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223992" y="32156091"/>
            <a:ext cx="8430767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5560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1E496F-E0BA-4F43-8C00-B93B406C9CF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86facd64-0a22-4a4c-93b6-872760411c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711</Words>
  <Application>Microsoft Office PowerPoint</Application>
  <PresentationFormat>Custom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Kisi, Krishna</cp:lastModifiedBy>
  <cp:revision>41</cp:revision>
  <dcterms:created xsi:type="dcterms:W3CDTF">2013-01-27T09:14:16Z</dcterms:created>
  <dcterms:modified xsi:type="dcterms:W3CDTF">2026-09-21T23:25:38Z</dcterms:modified>
  <cp:category/>
</cp:coreProperties>
</file>