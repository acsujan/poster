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3" r:id="rId2"/>
  </p:sldIdLst>
  <p:sldSz cx="27432000" cy="3657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50" d="100"/>
          <a:sy n="50" d="100"/>
        </p:scale>
        <p:origin x="1144" y="-2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jp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7432000" cy="36576000"/>
          </a:xfrm>
          <a:prstGeom prst="rect">
            <a:avLst/>
          </a:prstGeom>
          <a:solidFill>
            <a:srgbClr val="FB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18223992" y="31894272"/>
            <a:ext cx="8430767" cy="3090672"/>
          </a:xfrm>
          <a:prstGeom prst="rect">
            <a:avLst/>
          </a:prstGeom>
          <a:solidFill>
            <a:srgbClr val="F2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27432000" cy="3680764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3680764"/>
            <a:ext cx="27432000" cy="82296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7240" y="4933492"/>
            <a:ext cx="25877520" cy="3611879"/>
          </a:xfrm>
          <a:prstGeom prst="rect">
            <a:avLst/>
          </a:prstGeom>
          <a:solidFill>
            <a:srgbClr val="F2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7240" y="4933492"/>
            <a:ext cx="82296" cy="3611879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777240" y="18254263"/>
            <a:ext cx="6249924" cy="2429256"/>
          </a:xfrm>
          <a:prstGeom prst="rect">
            <a:avLst/>
          </a:prstGeom>
          <a:solidFill>
            <a:srgbClr val="FBF9F6"/>
          </a:solidFill>
          <a:ln w="1524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77240" y="18254263"/>
            <a:ext cx="6249924" cy="64008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7319771" y="18254263"/>
            <a:ext cx="6249924" cy="2429256"/>
          </a:xfrm>
          <a:prstGeom prst="rect">
            <a:avLst/>
          </a:prstGeom>
          <a:solidFill>
            <a:srgbClr val="FBF9F6"/>
          </a:solidFill>
          <a:ln w="1524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7319771" y="18254263"/>
            <a:ext cx="6249924" cy="64008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13862303" y="18254263"/>
            <a:ext cx="6249924" cy="2429256"/>
          </a:xfrm>
          <a:prstGeom prst="rect">
            <a:avLst/>
          </a:prstGeom>
          <a:solidFill>
            <a:srgbClr val="FBF9F6"/>
          </a:solidFill>
          <a:ln w="1524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13862303" y="18254263"/>
            <a:ext cx="6249924" cy="64008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20404835" y="18254263"/>
            <a:ext cx="6249924" cy="2429256"/>
          </a:xfrm>
          <a:prstGeom prst="rect">
            <a:avLst/>
          </a:prstGeom>
          <a:solidFill>
            <a:srgbClr val="FBF9F6"/>
          </a:solidFill>
          <a:ln w="1524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20404835" y="18254263"/>
            <a:ext cx="6249924" cy="64008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777240" y="10547907"/>
            <a:ext cx="12792456" cy="2129789"/>
          </a:xfrm>
          <a:prstGeom prst="rect">
            <a:avLst/>
          </a:prstGeom>
          <a:solidFill>
            <a:srgbClr val="F2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777240" y="10547907"/>
            <a:ext cx="12792456" cy="54864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777240" y="20884687"/>
            <a:ext cx="17154144" cy="6490617"/>
          </a:xfrm>
          <a:prstGeom prst="rect">
            <a:avLst/>
          </a:prstGeom>
          <a:solidFill>
            <a:srgbClr val="FBF9F6"/>
          </a:solidFill>
          <a:ln w="1524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18223992" y="24731263"/>
            <a:ext cx="8430767" cy="2644041"/>
          </a:xfrm>
          <a:prstGeom prst="rect">
            <a:avLst/>
          </a:prstGeom>
          <a:solidFill>
            <a:srgbClr val="F2E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Rectangle 134"/>
          <p:cNvSpPr/>
          <p:nvPr/>
        </p:nvSpPr>
        <p:spPr>
          <a:xfrm>
            <a:off x="777240" y="31894272"/>
            <a:ext cx="17154144" cy="3090672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Rectangle 135"/>
          <p:cNvSpPr/>
          <p:nvPr/>
        </p:nvSpPr>
        <p:spPr>
          <a:xfrm>
            <a:off x="777240" y="31894272"/>
            <a:ext cx="17154144" cy="64008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812018" y="1123809"/>
            <a:ext cx="18249899" cy="7189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0"/>
              </a:spcAft>
            </a:pPr>
            <a:r>
              <a:rPr lang="en-US" sz="4800" b="1" i="0" dirty="0">
                <a:solidFill>
                  <a:srgbClr val="FFFFFF"/>
                </a:solidFill>
                <a:latin typeface="Times New Roman"/>
              </a:rPr>
              <a:t>Wearable </a:t>
            </a:r>
            <a:r>
              <a:rPr lang="en-US" sz="4800" b="1" i="0" dirty="0" err="1">
                <a:solidFill>
                  <a:srgbClr val="FFFFFF"/>
                </a:solidFill>
                <a:latin typeface="Times New Roman"/>
              </a:rPr>
              <a:t>sEMG</a:t>
            </a:r>
            <a:r>
              <a:rPr lang="en-US" sz="4800" b="1" i="0" dirty="0">
                <a:solidFill>
                  <a:srgbClr val="FFFFFF"/>
                </a:solidFill>
                <a:latin typeface="Times New Roman"/>
              </a:rPr>
              <a:t> fatigue monitoring on roofers in hot environments</a:t>
            </a:r>
            <a:endParaRPr sz="4800" b="1" i="0" dirty="0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52976" y="2053449"/>
            <a:ext cx="25877520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lang="en-US" sz="3200" b="0" i="0" dirty="0">
                <a:solidFill>
                  <a:srgbClr val="FFFFFF"/>
                </a:solidFill>
                <a:latin typeface="Times New Roman"/>
              </a:rPr>
              <a:t>Sujan Acharya and Krishna P. Kisi, Ph.D., P.E. · Texas State University</a:t>
            </a:r>
          </a:p>
        </p:txBody>
      </p:sp>
      <p:pic>
        <p:nvPicPr>
          <p:cNvPr id="8" name="Picture 7" descr="txs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962" y="2357741"/>
            <a:ext cx="4163838" cy="93516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241043" y="5149839"/>
            <a:ext cx="11497057" cy="33207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US" sz="2100" b="0" i="0" dirty="0">
                <a:solidFill>
                  <a:srgbClr val="34302B"/>
                </a:solidFill>
                <a:latin typeface="Times New Roman"/>
              </a:rPr>
              <a:t>Nepali migrants build much of the Gulf, roofing through summer afternoons on short contracts, with musculoskeletal disorders carried home rather than recorded.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US" sz="2100" b="0" i="0" dirty="0">
                <a:solidFill>
                  <a:srgbClr val="34302B"/>
                </a:solidFill>
                <a:latin typeface="Times New Roman"/>
              </a:rPr>
              <a:t>Muscle fatigue precedes those disorders and the falls that injure roofers. Surface EMG (sEMG) tracks fatigue as it builds, before a worker feels it, so a body-worn sensor could warn in time. Nearly all of that evidence comes from cool laboratories.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2100" b="0" i="0" dirty="0">
                <a:solidFill>
                  <a:srgbClr val="34302B"/>
                </a:solidFill>
                <a:latin typeface="Times New Roman"/>
              </a:rPr>
              <a:t>We ran one protocol twice: indoors on a 30° platform, then at 33–39 °C on an outdoor roof mock-up. Nine of ten channels were usable indoors, four outdoors, and the model fell to 49%, below a 76% majority-class guess. Heat and sweat took the leg channels first, so placement decides whether a study measures fatigue or noise. Nepal builds the same roofs, with no such field data.</a:t>
            </a:r>
          </a:p>
        </p:txBody>
      </p:sp>
      <p:pic>
        <p:nvPicPr>
          <p:cNvPr id="11" name="Picture 10" descr="gulf_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13967" y="5207812"/>
            <a:ext cx="3843175" cy="265176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3213967" y="5207812"/>
            <a:ext cx="3843175" cy="2651760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213967" y="7969300"/>
            <a:ext cx="3843175" cy="38061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400" b="0" i="1" dirty="0">
                <a:solidFill>
                  <a:srgbClr val="6E6862"/>
                </a:solidFill>
                <a:latin typeface="Times New Roman"/>
              </a:rPr>
              <a:t>Gulf towers</a:t>
            </a:r>
          </a:p>
        </p:txBody>
      </p:sp>
      <p:pic>
        <p:nvPicPr>
          <p:cNvPr id="14" name="Picture 13" descr="gulf_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58311" y="5207812"/>
            <a:ext cx="4401412" cy="26517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7258311" y="5207812"/>
            <a:ext cx="4401412" cy="2651760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7258311" y="7969300"/>
            <a:ext cx="4401412" cy="38061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400" b="0" i="1" dirty="0">
                <a:solidFill>
                  <a:srgbClr val="6E6862"/>
                </a:solidFill>
                <a:latin typeface="Times New Roman"/>
              </a:rPr>
              <a:t>shift change in the heat</a:t>
            </a:r>
          </a:p>
        </p:txBody>
      </p:sp>
      <p:pic>
        <p:nvPicPr>
          <p:cNvPr id="17" name="Picture 16" descr="nepal_sit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60892" y="5207812"/>
            <a:ext cx="3535679" cy="26517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21860892" y="5207812"/>
            <a:ext cx="3535679" cy="2651760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1860892" y="7969300"/>
            <a:ext cx="3535679" cy="38061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400" b="0" i="1" dirty="0">
                <a:solidFill>
                  <a:srgbClr val="6E6862"/>
                </a:solidFill>
                <a:latin typeface="Times New Roman"/>
              </a:rPr>
              <a:t>roof work at home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2E5A80"/>
                </a:solidFill>
                <a:latin typeface="Times New Roman"/>
              </a:rP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6794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 dirty="0">
                <a:solidFill>
                  <a:srgbClr val="B4531A"/>
                </a:solidFill>
                <a:latin typeface="Times New Roman"/>
              </a:rPr>
              <a:t>4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765041" y="18796807"/>
            <a:ext cx="274320" cy="128016"/>
          </a:xfrm>
          <a:prstGeom prst="rightArrow">
            <a:avLst/>
          </a:prstGeom>
          <a:solidFill>
            <a:srgbClr val="6E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2E5A80"/>
                </a:solidFill>
                <a:latin typeface="Times New Roman"/>
              </a:rPr>
              <a:t>LABORATORY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6794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B4531A"/>
                </a:solidFill>
                <a:latin typeface="Times New Roman"/>
              </a:rPr>
              <a:t>OUTDOORS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19700539"/>
            <a:ext cx="5701284" cy="4160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 dirty="0">
                <a:solidFill>
                  <a:srgbClr val="14110F"/>
                </a:solidFill>
                <a:latin typeface="Times New Roman"/>
              </a:rPr>
              <a:t>sensor channels we could use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20162311"/>
            <a:ext cx="5701284" cy="3017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6E6862"/>
                </a:solidFill>
                <a:latin typeface="Times New Roman"/>
              </a:rPr>
              <a:t>out of ten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9771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2E5A80"/>
                </a:solidFill>
                <a:latin typeface="Times New Roman"/>
              </a:rPr>
              <a:t>2.3×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9326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B4531A"/>
                </a:solidFill>
                <a:latin typeface="Times New Roman"/>
              </a:rPr>
              <a:t>1.3×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0307574" y="18796807"/>
            <a:ext cx="274320" cy="128016"/>
          </a:xfrm>
          <a:prstGeom prst="rightArrow">
            <a:avLst/>
          </a:prstGeom>
          <a:solidFill>
            <a:srgbClr val="6E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9771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2E5A80"/>
                </a:solidFill>
                <a:latin typeface="Times New Roman"/>
              </a:rPr>
              <a:t>LABORATORY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9326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B4531A"/>
                </a:solidFill>
                <a:latin typeface="Times New Roman"/>
              </a:rPr>
              <a:t>OUTDOORS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94092" y="19700539"/>
            <a:ext cx="5701284" cy="4160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 dirty="0">
                <a:solidFill>
                  <a:srgbClr val="14110F"/>
                </a:solidFill>
                <a:latin typeface="Times New Roman"/>
              </a:rPr>
              <a:t>signal working vs resting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4092" y="20162311"/>
            <a:ext cx="5701284" cy="3017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6E6862"/>
                </a:solidFill>
                <a:latin typeface="Times New Roman"/>
              </a:rPr>
              <a:t>higher is easier to read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862303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2E5A80"/>
                </a:solidFill>
                <a:latin typeface="Times New Roman"/>
              </a:rP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151857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B4531A"/>
                </a:solidFill>
                <a:latin typeface="Times New Roman"/>
              </a:rPr>
              <a:t>19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16850106" y="18796807"/>
            <a:ext cx="274320" cy="128016"/>
          </a:xfrm>
          <a:prstGeom prst="rightArrow">
            <a:avLst/>
          </a:prstGeom>
          <a:solidFill>
            <a:srgbClr val="6E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3862303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2E5A80"/>
                </a:solidFill>
                <a:latin typeface="Times New Roman"/>
              </a:rPr>
              <a:t>LABORATORY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151857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B4531A"/>
                </a:solidFill>
                <a:latin typeface="Times New Roman"/>
              </a:rPr>
              <a:t>OUTDOORS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36624" y="19700539"/>
            <a:ext cx="5701284" cy="4160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14110F"/>
                </a:solidFill>
                <a:latin typeface="Times New Roman"/>
              </a:rPr>
              <a:t>signal while resting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36624" y="20162311"/>
            <a:ext cx="5701284" cy="3017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0" i="0" dirty="0">
                <a:solidFill>
                  <a:srgbClr val="6E6862"/>
                </a:solidFill>
                <a:latin typeface="Times New Roman"/>
              </a:rPr>
              <a:t>µV at the lower back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404835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2E5A80"/>
                </a:solidFill>
                <a:latin typeface="Times New Roman"/>
              </a:rPr>
              <a:t>20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694389" y="18510295"/>
            <a:ext cx="2960370" cy="701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B4531A"/>
                </a:solidFill>
                <a:latin typeface="Times New Roman"/>
              </a:rPr>
              <a:t>8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23392638" y="18796807"/>
            <a:ext cx="274320" cy="128016"/>
          </a:xfrm>
          <a:prstGeom prst="rightArrow">
            <a:avLst/>
          </a:prstGeom>
          <a:solidFill>
            <a:srgbClr val="6E68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0404835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2E5A80"/>
                </a:solidFill>
                <a:latin typeface="Times New Roman"/>
              </a:rPr>
              <a:t>POSSIBLE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694389" y="19247911"/>
            <a:ext cx="2960370" cy="2514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 spc="100">
                <a:solidFill>
                  <a:srgbClr val="B4531A"/>
                </a:solidFill>
                <a:latin typeface="Times New Roman"/>
              </a:rPr>
              <a:t>WE CAN READ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679156" y="19700539"/>
            <a:ext cx="5701284" cy="4160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14110F"/>
                </a:solidFill>
                <a:latin typeface="Times New Roman"/>
              </a:rPr>
              <a:t>muscle-and-posture tests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679156" y="20162311"/>
            <a:ext cx="5701284" cy="3017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0" i="0">
                <a:solidFill>
                  <a:srgbClr val="6E6862"/>
                </a:solidFill>
                <a:latin typeface="Times New Roman"/>
              </a:rPr>
              <a:t>kneeling and stooping</a:t>
            </a:r>
          </a:p>
        </p:txBody>
      </p:sp>
      <p:pic>
        <p:nvPicPr>
          <p:cNvPr id="67" name="Picture 66" descr="field_roof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62303" y="10547907"/>
            <a:ext cx="3391673" cy="2543755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13862303" y="10547907"/>
            <a:ext cx="3391673" cy="2543755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3862303" y="13201391"/>
            <a:ext cx="3391673" cy="412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1">
                <a:solidFill>
                  <a:srgbClr val="6E6862"/>
                </a:solidFill>
                <a:latin typeface="Times New Roman"/>
              </a:rPr>
              <a:t>our roof platform</a:t>
            </a:r>
          </a:p>
        </p:txBody>
      </p:sp>
      <p:pic>
        <p:nvPicPr>
          <p:cNvPr id="70" name="Picture 69" descr="field_placement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55145" y="10547907"/>
            <a:ext cx="1914175" cy="2543755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17455145" y="10547907"/>
            <a:ext cx="1914175" cy="2543755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7455145" y="13201391"/>
            <a:ext cx="2115344" cy="412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1" dirty="0">
                <a:solidFill>
                  <a:srgbClr val="6E6862"/>
                </a:solidFill>
                <a:latin typeface="Times New Roman"/>
              </a:rPr>
              <a:t>on the worker</a:t>
            </a:r>
          </a:p>
        </p:txBody>
      </p:sp>
      <p:pic>
        <p:nvPicPr>
          <p:cNvPr id="73" name="Picture 72" descr="sensor_devic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570489" y="10547907"/>
            <a:ext cx="3491428" cy="2543755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19570489" y="10547907"/>
            <a:ext cx="3491428" cy="2543755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19570489" y="13201391"/>
            <a:ext cx="3491428" cy="412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0" i="1" dirty="0">
                <a:solidFill>
                  <a:srgbClr val="6E6862"/>
                </a:solidFill>
                <a:latin typeface="Times New Roman"/>
              </a:rPr>
              <a:t>the sensor itself</a:t>
            </a:r>
          </a:p>
        </p:txBody>
      </p:sp>
      <p:pic>
        <p:nvPicPr>
          <p:cNvPr id="76" name="Picture 75" descr="field_setup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263086" y="10547907"/>
            <a:ext cx="3391673" cy="2543755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23263086" y="10547907"/>
            <a:ext cx="3391673" cy="2543755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23263086" y="13201391"/>
            <a:ext cx="3391673" cy="412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0" i="1" dirty="0">
                <a:solidFill>
                  <a:srgbClr val="6E6862"/>
                </a:solidFill>
                <a:latin typeface="Times New Roman"/>
              </a:rPr>
              <a:t>the field station</a:t>
            </a:r>
          </a:p>
        </p:txBody>
      </p:sp>
      <p:pic>
        <p:nvPicPr>
          <p:cNvPr id="79" name="Picture 78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13412360" y="13704311"/>
            <a:ext cx="13382882" cy="2487168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3862303" y="16191479"/>
            <a:ext cx="12792456" cy="871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1" dirty="0">
                <a:solidFill>
                  <a:srgbClr val="6E6862"/>
                </a:solidFill>
                <a:latin typeface="Times New Roman"/>
              </a:rPr>
              <a:t>One session day: 32.8 °C through the morning block, 38.9 °C by five.   NOAA station KHYI, San Marcos, 14 August 2025.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51560" y="10822227"/>
            <a:ext cx="12243816" cy="5364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1" i="0" dirty="0">
                <a:solidFill>
                  <a:srgbClr val="501414"/>
                </a:solidFill>
                <a:latin typeface="Times New Roman"/>
              </a:rPr>
              <a:t>A channel counts only if it passes all three checks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16151" y="11459259"/>
            <a:ext cx="3782568" cy="397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 dirty="0">
                <a:solidFill>
                  <a:srgbClr val="14110F"/>
                </a:solidFill>
                <a:latin typeface="Times New Roman"/>
              </a:rPr>
              <a:t>1   Above the noise floor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16151" y="11873025"/>
            <a:ext cx="3782568" cy="721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 i="0" dirty="0">
                <a:solidFill>
                  <a:srgbClr val="34302B"/>
                </a:solidFill>
                <a:latin typeface="Times New Roman"/>
              </a:rPr>
              <a:t>bigger than the sensor's own 3–5 µV noise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1560" y="11459259"/>
            <a:ext cx="50292" cy="1017269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5364480" y="11459259"/>
            <a:ext cx="3782568" cy="397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14110F"/>
                </a:solidFill>
                <a:latin typeface="Times New Roman"/>
              </a:rPr>
              <a:t>2   Above its own rest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364480" y="11873025"/>
            <a:ext cx="3782568" cy="721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 i="0">
                <a:solidFill>
                  <a:srgbClr val="34302B"/>
                </a:solidFill>
                <a:latin typeface="Times New Roman"/>
              </a:rPr>
              <a:t>working signal beats the same channel at rest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199888" y="11459259"/>
            <a:ext cx="50292" cy="1017269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9512808" y="11459259"/>
            <a:ext cx="3782568" cy="397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14110F"/>
                </a:solidFill>
                <a:latin typeface="Times New Roman"/>
              </a:rPr>
              <a:t>3   In the muscle band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512808" y="11873025"/>
            <a:ext cx="3782568" cy="7212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 i="0">
                <a:solidFill>
                  <a:srgbClr val="34302B"/>
                </a:solidFill>
                <a:latin typeface="Times New Roman"/>
              </a:rPr>
              <a:t>median frequency between 50 and 150 Hz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348216" y="11459259"/>
            <a:ext cx="50292" cy="1017269"/>
          </a:xfrm>
          <a:prstGeom prst="rect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3" name="Picture 92" descr="lab_roof_task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76993" y="12878865"/>
            <a:ext cx="5347936" cy="3202885"/>
          </a:xfrm>
          <a:prstGeom prst="rect">
            <a:avLst/>
          </a:prstGeom>
        </p:spPr>
      </p:pic>
      <p:sp>
        <p:nvSpPr>
          <p:cNvPr id="94" name="Rectangle 93"/>
          <p:cNvSpPr/>
          <p:nvPr/>
        </p:nvSpPr>
        <p:spPr>
          <a:xfrm>
            <a:off x="2376993" y="12878865"/>
            <a:ext cx="5347936" cy="3202885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2376993" y="16191479"/>
            <a:ext cx="5347936" cy="412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1" dirty="0">
                <a:solidFill>
                  <a:srgbClr val="6E6862"/>
                </a:solidFill>
                <a:latin typeface="Times New Roman"/>
              </a:rPr>
              <a:t>the same 30° platform, indoors</a:t>
            </a:r>
          </a:p>
        </p:txBody>
      </p:sp>
      <p:pic>
        <p:nvPicPr>
          <p:cNvPr id="96" name="Picture 95" descr="sensor_placemen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26098" y="12878865"/>
            <a:ext cx="4043843" cy="3202885"/>
          </a:xfrm>
          <a:prstGeom prst="rect">
            <a:avLst/>
          </a:prstGeom>
        </p:spPr>
      </p:pic>
      <p:sp>
        <p:nvSpPr>
          <p:cNvPr id="97" name="Rectangle 96"/>
          <p:cNvSpPr/>
          <p:nvPr/>
        </p:nvSpPr>
        <p:spPr>
          <a:xfrm>
            <a:off x="7926098" y="12878865"/>
            <a:ext cx="4043843" cy="3202885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7926098" y="16191479"/>
            <a:ext cx="4043843" cy="412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1">
                <a:solidFill>
                  <a:srgbClr val="6E6862"/>
                </a:solidFill>
                <a:latin typeface="Times New Roman"/>
              </a:rPr>
              <a:t>ten muscles, trunk to calf</a:t>
            </a:r>
          </a:p>
        </p:txBody>
      </p:sp>
      <p:pic>
        <p:nvPicPr>
          <p:cNvPr id="103" name="Picture 102" descr="P1_bodyma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5840" y="21104143"/>
            <a:ext cx="16696944" cy="6035040"/>
          </a:xfrm>
          <a:prstGeom prst="rect">
            <a:avLst/>
          </a:prstGeom>
        </p:spPr>
      </p:pic>
      <p:pic>
        <p:nvPicPr>
          <p:cNvPr id="105" name="Picture 104" descr="sweat_electrod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565158" y="20884687"/>
            <a:ext cx="5748437" cy="3209544"/>
          </a:xfrm>
          <a:prstGeom prst="rect">
            <a:avLst/>
          </a:prstGeom>
        </p:spPr>
      </p:pic>
      <p:sp>
        <p:nvSpPr>
          <p:cNvPr id="106" name="Rectangle 105"/>
          <p:cNvSpPr/>
          <p:nvPr/>
        </p:nvSpPr>
        <p:spPr>
          <a:xfrm>
            <a:off x="19565158" y="20884687"/>
            <a:ext cx="5748437" cy="3209544"/>
          </a:xfrm>
          <a:prstGeom prst="rect">
            <a:avLst/>
          </a:prstGeom>
          <a:noFill/>
          <a:ln w="12700">
            <a:solidFill>
              <a:srgbClr val="DDD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18223992" y="24094231"/>
            <a:ext cx="8430767" cy="435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0" i="1" dirty="0">
                <a:solidFill>
                  <a:srgbClr val="6E6862"/>
                </a:solidFill>
                <a:latin typeface="Times New Roman"/>
              </a:rPr>
              <a:t>Illustration</a:t>
            </a:r>
            <a:r>
              <a:rPr lang="en-US" sz="2600" i="1" dirty="0">
                <a:solidFill>
                  <a:srgbClr val="6E6862"/>
                </a:solidFill>
                <a:latin typeface="Times New Roman"/>
              </a:rPr>
              <a:t> (AI generated)</a:t>
            </a:r>
            <a:endParaRPr sz="2600" b="0" i="1" dirty="0">
              <a:solidFill>
                <a:srgbClr val="6E6862"/>
              </a:solidFill>
              <a:latin typeface="Times New Roman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18412232" y="24793648"/>
            <a:ext cx="7882127" cy="4358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1" i="0" dirty="0">
                <a:solidFill>
                  <a:srgbClr val="501414"/>
                </a:solidFill>
                <a:latin typeface="Times New Roman"/>
              </a:rPr>
              <a:t>Why this happened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8361151" y="25229512"/>
            <a:ext cx="8293608" cy="19720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600" b="0" i="0" dirty="0">
                <a:solidFill>
                  <a:srgbClr val="34302B"/>
                </a:solidFill>
                <a:latin typeface="Times New Roman"/>
              </a:rPr>
              <a:t>Sweat breaks the contact, so the signal gets smaller.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2600" b="0" i="0" dirty="0">
                <a:solidFill>
                  <a:srgbClr val="34302B"/>
                </a:solidFill>
                <a:latin typeface="Times New Roman"/>
              </a:rPr>
              <a:t>Heat and holding a posture lift the resting level.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600" b="0" i="0" dirty="0">
                <a:solidFill>
                  <a:srgbClr val="34302B"/>
                </a:solidFill>
                <a:latin typeface="Times New Roman"/>
              </a:rPr>
              <a:t>Small muscles start closest to the noise, so they cross into it first.</a:t>
            </a:r>
          </a:p>
        </p:txBody>
      </p:sp>
      <p:pic>
        <p:nvPicPr>
          <p:cNvPr id="115" name="Picture 114" descr="P2_rest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400" y="27576471"/>
            <a:ext cx="8051206" cy="2798065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463811" y="30484264"/>
            <a:ext cx="8156447" cy="4160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 dirty="0">
                <a:solidFill>
                  <a:srgbClr val="14110F"/>
                </a:solidFill>
                <a:latin typeface="Times New Roman"/>
              </a:rPr>
              <a:t>Rest is no longer rest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759847" y="30900316"/>
            <a:ext cx="7564374" cy="871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0" i="0" dirty="0">
                <a:solidFill>
                  <a:srgbClr val="6E6862"/>
                </a:solidFill>
                <a:latin typeface="Times New Roman"/>
              </a:rPr>
              <a:t>19 µV on the roof against 9 µV in the lab. </a:t>
            </a:r>
            <a:endParaRPr lang="en-US" sz="2600" b="0" i="0" dirty="0">
              <a:solidFill>
                <a:srgbClr val="6E6862"/>
              </a:solidFill>
              <a:latin typeface="Times New Roman"/>
            </a:endParaRP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0" i="0" dirty="0">
                <a:solidFill>
                  <a:srgbClr val="6E6862"/>
                </a:solidFill>
                <a:latin typeface="Times New Roman"/>
              </a:rPr>
              <a:t>Each dot is one worker.</a:t>
            </a:r>
          </a:p>
        </p:txBody>
      </p:sp>
      <p:pic>
        <p:nvPicPr>
          <p:cNvPr id="118" name="Picture 117" descr="P3_gri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37776" y="27576472"/>
            <a:ext cx="7893337" cy="2743200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9637776" y="30429400"/>
            <a:ext cx="8156447" cy="4160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14110F"/>
                </a:solidFill>
                <a:latin typeface="Times New Roman"/>
              </a:rPr>
              <a:t>Most comparisons are gone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036181" y="30900316"/>
            <a:ext cx="5652244" cy="871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0" i="0" dirty="0">
                <a:solidFill>
                  <a:srgbClr val="6E6862"/>
                </a:solidFill>
                <a:latin typeface="Times New Roman"/>
              </a:rPr>
              <a:t>the leg muscles that matter for balance are the ones we lost</a:t>
            </a:r>
          </a:p>
        </p:txBody>
      </p:sp>
      <p:pic>
        <p:nvPicPr>
          <p:cNvPr id="121" name="Picture 120"/>
          <p:cNvPicPr>
            <a:picLocks noChangeAspect="1"/>
          </p:cNvPicPr>
          <p:nvPr/>
        </p:nvPicPr>
        <p:blipFill>
          <a:blip r:embed="rId17"/>
          <a:srcRect/>
          <a:stretch/>
        </p:blipFill>
        <p:spPr>
          <a:xfrm>
            <a:off x="18361152" y="27576472"/>
            <a:ext cx="7893336" cy="2743200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18361152" y="30429400"/>
            <a:ext cx="8156447" cy="4160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600" b="1" i="0" dirty="0">
                <a:solidFill>
                  <a:srgbClr val="14110F"/>
                </a:solidFill>
                <a:latin typeface="Times New Roman"/>
              </a:rPr>
              <a:t>The model inherits the damage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9570489" y="30900316"/>
            <a:ext cx="6197019" cy="8717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600" b="0" i="0" dirty="0">
                <a:solidFill>
                  <a:srgbClr val="6E6862"/>
                </a:solidFill>
                <a:latin typeface="Times New Roman"/>
              </a:rPr>
              <a:t>trained one worker at a time, it lands at 49% on roof data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24128" y="34149792"/>
            <a:ext cx="16660368" cy="737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2200" b="1" i="0" dirty="0">
                <a:solidFill>
                  <a:srgbClr val="FFFFFF"/>
                </a:solidFill>
                <a:latin typeface="Times New Roman"/>
              </a:rPr>
              <a:t>Where Nepal stands: </a:t>
            </a:r>
            <a:r>
              <a:rPr lang="en-US" sz="2200" b="0" i="0" dirty="0">
                <a:solidFill>
                  <a:srgbClr val="FFFF00"/>
                </a:solidFill>
                <a:latin typeface="Times New Roman"/>
              </a:rPr>
              <a:t>no roof-worn field data exists for Nepali workers. The evidence base is Gulf-employer reports and Western labs, so these lessons are where Nepali researchers can start, on placement and on what a study can claim.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225296" y="32881824"/>
            <a:ext cx="510844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Times New Roman"/>
              </a:rPr>
              <a:t>Trunk first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225296" y="33302448"/>
            <a:ext cx="5108448" cy="737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 i="0" dirty="0">
                <a:solidFill>
                  <a:srgbClr val="FFFF00"/>
                </a:solidFill>
                <a:latin typeface="Times New Roman"/>
              </a:rPr>
              <a:t>both sides of the lower back, plus one leg channel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24128" y="32918400"/>
            <a:ext cx="50292" cy="11033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6900672" y="32881824"/>
            <a:ext cx="510844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Times New Roman"/>
              </a:rPr>
              <a:t>Check the signal live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900672" y="33302448"/>
            <a:ext cx="5108448" cy="368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 i="0" dirty="0">
                <a:solidFill>
                  <a:srgbClr val="FFFF00"/>
                </a:solidFill>
                <a:latin typeface="Times New Roman"/>
              </a:rPr>
              <a:t>a dead channel cannot be fixed later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699504" y="32918400"/>
            <a:ext cx="50292" cy="73456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12576048" y="32881824"/>
            <a:ext cx="510844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Times New Roman"/>
              </a:rPr>
              <a:t>Teach the sensor check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576048" y="33302448"/>
            <a:ext cx="5108448" cy="737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200" b="0" i="0" dirty="0">
                <a:solidFill>
                  <a:srgbClr val="FFFF00"/>
                </a:solidFill>
                <a:latin typeface="Times New Roman"/>
              </a:rPr>
              <a:t>at vocational centres and pre-departure briefings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2374880" y="32918400"/>
            <a:ext cx="50292" cy="11033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Rectangle 136"/>
          <p:cNvSpPr/>
          <p:nvPr/>
        </p:nvSpPr>
        <p:spPr>
          <a:xfrm>
            <a:off x="777240" y="35048644"/>
            <a:ext cx="25877520" cy="27432"/>
          </a:xfrm>
          <a:prstGeom prst="rect">
            <a:avLst/>
          </a:prstGeom>
          <a:solidFill>
            <a:srgbClr val="DDD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777240" y="35121796"/>
            <a:ext cx="25877520" cy="12595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800" b="0" i="0" dirty="0">
                <a:solidFill>
                  <a:srgbClr val="6E6862"/>
                </a:solidFill>
                <a:latin typeface="Times New Roman"/>
              </a:rPr>
              <a:t>22 workers · 30° platform · one processing pipeline · every number here is computed from the recordings at print time · Limitation: different people in each setting, 13 in the laboratory and 9 on the roof, not the same workers tested twice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800" b="0" i="0" dirty="0">
                <a:solidFill>
                  <a:srgbClr val="6E6862"/>
                </a:solidFill>
                <a:latin typeface="Times New Roman"/>
              </a:rPr>
              <a:t>Reference</a:t>
            </a:r>
            <a:r>
              <a:rPr lang="en-US" sz="1800" b="0" i="0" dirty="0">
                <a:solidFill>
                  <a:srgbClr val="6E6862"/>
                </a:solidFill>
                <a:latin typeface="Times New Roman"/>
              </a:rPr>
              <a:t>: Acharya, S., Kisi, K., Gautam, S. R., Mahmud, T., &amp; Kayastha, R. (2025). A high-performance hybrid transformer–LSTM–</a:t>
            </a:r>
            <a:r>
              <a:rPr lang="en-US" sz="1800" b="0" i="0" dirty="0" err="1">
                <a:solidFill>
                  <a:srgbClr val="6E6862"/>
                </a:solidFill>
                <a:latin typeface="Times New Roman"/>
              </a:rPr>
              <a:t>XGBoost</a:t>
            </a:r>
            <a:r>
              <a:rPr lang="en-US" sz="1800" b="0" i="0" dirty="0">
                <a:solidFill>
                  <a:srgbClr val="6E6862"/>
                </a:solidFill>
                <a:latin typeface="Times New Roman"/>
              </a:rPr>
              <a:t> model for sEMG-based fatigue detection in simulated roofing postures. Buildings, 15(17), 3005.</a:t>
            </a: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1800" b="0" i="0" dirty="0">
                <a:solidFill>
                  <a:srgbClr val="6E6862"/>
                </a:solidFill>
                <a:latin typeface="Times New Roman"/>
              </a:rPr>
              <a:t>Gulf and Nepal photographs: Imre Solt (CC BY-SA 3.0) and Adam Jones (CC BY-SA 2.0), via Wikimedia Commons.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0" i="0" dirty="0">
                <a:solidFill>
                  <a:srgbClr val="6E6862"/>
                </a:solidFill>
                <a:latin typeface="Times New Roman"/>
              </a:rPr>
              <a:t>Sweat-on-the-electrode image: made with Google Flow (Nano Banana 2). 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1010133" y="2698636"/>
            <a:ext cx="60350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3000" b="1" i="0" dirty="0">
                <a:solidFill>
                  <a:srgbClr val="FFFFFF"/>
                </a:solidFill>
                <a:latin typeface="Times New Roman"/>
              </a:rPr>
              <a:t>19th Annual </a:t>
            </a:r>
            <a:r>
              <a:rPr sz="3000" b="1" i="0" dirty="0" err="1">
                <a:solidFill>
                  <a:srgbClr val="FFFFFF"/>
                </a:solidFill>
                <a:latin typeface="Times New Roman"/>
              </a:rPr>
              <a:t>ASNEngr</a:t>
            </a:r>
            <a:r>
              <a:rPr sz="3000" b="1" i="0" dirty="0">
                <a:solidFill>
                  <a:srgbClr val="FFFFFF"/>
                </a:solidFill>
                <a:latin typeface="Times New Roman"/>
              </a:rPr>
              <a:t> Conference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0760202" y="3150412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400" b="0" i="0" dirty="0">
                <a:solidFill>
                  <a:srgbClr val="E8D9B8"/>
                </a:solidFill>
                <a:latin typeface="Times New Roman"/>
              </a:rPr>
              <a:t>Houston, Texas · November 21, 2026</a:t>
            </a:r>
          </a:p>
        </p:txBody>
      </p:sp>
      <p:sp>
        <p:nvSpPr>
          <p:cNvPr id="141" name="Oval 140"/>
          <p:cNvSpPr/>
          <p:nvPr/>
        </p:nvSpPr>
        <p:spPr>
          <a:xfrm>
            <a:off x="777240" y="3964228"/>
            <a:ext cx="685800" cy="685800"/>
          </a:xfrm>
          <a:prstGeom prst="ellipse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700784" y="4002328"/>
            <a:ext cx="24953975" cy="67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4000" b="1" i="0" dirty="0">
                <a:solidFill>
                  <a:srgbClr val="501414"/>
                </a:solidFill>
                <a:latin typeface="Times New Roman"/>
              </a:rPr>
              <a:t>Abstract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777240" y="4759756"/>
            <a:ext cx="25877519" cy="45720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Oval 143"/>
          <p:cNvSpPr/>
          <p:nvPr/>
        </p:nvSpPr>
        <p:spPr>
          <a:xfrm>
            <a:off x="777240" y="8746539"/>
            <a:ext cx="685800" cy="685800"/>
          </a:xfrm>
          <a:prstGeom prst="ellipse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700784" y="8784639"/>
            <a:ext cx="24953975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501414"/>
                </a:solidFill>
                <a:latin typeface="Times New Roman"/>
              </a:rPr>
              <a:t>Methodology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77240" y="9542067"/>
            <a:ext cx="25877519" cy="45720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777240" y="9715803"/>
            <a:ext cx="1279245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501414"/>
                </a:solidFill>
                <a:latin typeface="Times New Roman"/>
              </a:rPr>
              <a:t>In the laboratory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3862304" y="9715803"/>
            <a:ext cx="1279245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 dirty="0">
                <a:solidFill>
                  <a:srgbClr val="501414"/>
                </a:solidFill>
                <a:latin typeface="Times New Roman"/>
              </a:rPr>
              <a:t>On an outdoor roof</a:t>
            </a:r>
            <a:r>
              <a:rPr lang="en-US" sz="3600" b="1" i="0" dirty="0">
                <a:solidFill>
                  <a:srgbClr val="501414"/>
                </a:solidFill>
                <a:latin typeface="Times New Roman"/>
              </a:rPr>
              <a:t> mock-up in the heat</a:t>
            </a:r>
            <a:endParaRPr sz="3600" b="1" i="0" dirty="0">
              <a:solidFill>
                <a:srgbClr val="501414"/>
              </a:solidFill>
              <a:latin typeface="Times New Roman"/>
            </a:endParaRPr>
          </a:p>
        </p:txBody>
      </p:sp>
      <p:sp>
        <p:nvSpPr>
          <p:cNvPr id="149" name="Rectangle 148"/>
          <p:cNvSpPr/>
          <p:nvPr/>
        </p:nvSpPr>
        <p:spPr>
          <a:xfrm>
            <a:off x="777240" y="10337595"/>
            <a:ext cx="12792456" cy="27432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13862304" y="10337595"/>
            <a:ext cx="12792456" cy="27432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777240" y="16731787"/>
            <a:ext cx="12792456" cy="3520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34302B"/>
                </a:solidFill>
                <a:latin typeface="Times New Roman"/>
              </a:rPr>
              <a:t>13 laboratory participants · 9 roof workers · Texas State University IRB #9962</a:t>
            </a:r>
          </a:p>
        </p:txBody>
      </p:sp>
      <p:sp>
        <p:nvSpPr>
          <p:cNvPr id="152" name="Oval 151"/>
          <p:cNvSpPr/>
          <p:nvPr/>
        </p:nvSpPr>
        <p:spPr>
          <a:xfrm>
            <a:off x="777240" y="17284999"/>
            <a:ext cx="685800" cy="685800"/>
          </a:xfrm>
          <a:prstGeom prst="ellipse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700784" y="17323099"/>
            <a:ext cx="24953975" cy="609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501414"/>
                </a:solidFill>
                <a:latin typeface="Times New Roman"/>
              </a:rPr>
              <a:t>Results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777240" y="18080527"/>
            <a:ext cx="25877519" cy="45720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Oval 154"/>
          <p:cNvSpPr/>
          <p:nvPr/>
        </p:nvSpPr>
        <p:spPr>
          <a:xfrm>
            <a:off x="1024128" y="32132016"/>
            <a:ext cx="685800" cy="685800"/>
          </a:xfrm>
          <a:prstGeom prst="ellipse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929384" y="32168592"/>
            <a:ext cx="5486400" cy="67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4000" b="1" i="0" dirty="0">
                <a:solidFill>
                  <a:srgbClr val="FFFFFF"/>
                </a:solidFill>
                <a:latin typeface="Times New Roman"/>
              </a:rPr>
              <a:t>Lessons Learned</a:t>
            </a:r>
          </a:p>
        </p:txBody>
      </p:sp>
      <p:sp>
        <p:nvSpPr>
          <p:cNvPr id="157" name="Oval 156"/>
          <p:cNvSpPr/>
          <p:nvPr/>
        </p:nvSpPr>
        <p:spPr>
          <a:xfrm>
            <a:off x="18470880" y="32132016"/>
            <a:ext cx="685800" cy="685800"/>
          </a:xfrm>
          <a:prstGeom prst="ellipse">
            <a:avLst/>
          </a:prstGeom>
          <a:solidFill>
            <a:srgbClr val="50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9376135" y="32168592"/>
            <a:ext cx="5486400" cy="67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US" sz="4000" b="1" i="0" dirty="0">
                <a:solidFill>
                  <a:srgbClr val="501414"/>
                </a:solidFill>
                <a:latin typeface="Times New Roman"/>
              </a:rPr>
              <a:t>Conclusion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8470880" y="32881824"/>
            <a:ext cx="7936992" cy="1844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900" b="0" i="0" dirty="0">
                <a:solidFill>
                  <a:srgbClr val="34302B"/>
                </a:solidFill>
                <a:latin typeface="Times New Roman"/>
              </a:rPr>
              <a:t>A sensor setup that works in a cool laboratory did not survive a hot roof: nine usable channels became four, the leg channels went first, and the fatigue model fell to 49%, below guessing.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en-US" sz="1900" b="0" i="0" dirty="0">
                <a:solidFill>
                  <a:srgbClr val="34302B"/>
                </a:solidFill>
                <a:latin typeface="Times New Roman"/>
              </a:rPr>
              <a:t>Field sEMG studies should be validated where the work happens: place the lower-back channels first, check every channel live before recording, and report which channels survived. In Nepal, where no roof-worn data exist, these rules are a starting point for the first field data set.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8223992" y="31894272"/>
            <a:ext cx="8430767" cy="64008"/>
          </a:xfrm>
          <a:prstGeom prst="rect">
            <a:avLst/>
          </a:prstGeom>
          <a:solidFill>
            <a:srgbClr val="A88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7556046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5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81E496F-E0BA-4F43-8C00-B93B406C9CFA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86facd64-0a22-4a4c-93b6-872760411c2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323</TotalTime>
  <Words>711</Words>
  <Application>Microsoft Office PowerPoint</Application>
  <PresentationFormat>Custom</PresentationFormat>
  <Paragraphs>86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Roboto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Kisi, Krishna</cp:lastModifiedBy>
  <cp:revision>41</cp:revision>
  <dcterms:created xsi:type="dcterms:W3CDTF">2013-01-27T09:14:16Z</dcterms:created>
  <dcterms:modified xsi:type="dcterms:W3CDTF">2026-09-21T23:25:38Z</dcterms:modified>
  <cp:category/>
</cp:coreProperties>
</file>