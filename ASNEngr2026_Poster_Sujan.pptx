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7432000" cy="3657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753" y="-1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00" cy="36576000"/>
          </a:xfrm>
          <a:prstGeom prst="rect">
            <a:avLst/>
          </a:prstGeom>
          <a:solidFill>
            <a:srgbClr val="FB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8223992" y="32156091"/>
            <a:ext cx="8430767" cy="2782824"/>
          </a:xfrm>
          <a:prstGeom prst="rect">
            <a:avLst/>
          </a:prstGeom>
          <a:solidFill>
            <a:srgbClr val="F2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7432000" cy="3680764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3680764"/>
            <a:ext cx="27432000" cy="82296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933492"/>
            <a:ext cx="25877520" cy="3611879"/>
          </a:xfrm>
          <a:prstGeom prst="rect">
            <a:avLst/>
          </a:prstGeom>
          <a:solidFill>
            <a:srgbClr val="F2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933492"/>
            <a:ext cx="82296" cy="3611879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77240" y="18254263"/>
            <a:ext cx="6249924" cy="2429256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77240" y="18254263"/>
            <a:ext cx="6249924" cy="64008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9771" y="18254263"/>
            <a:ext cx="6249924" cy="2429256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319771" y="18254263"/>
            <a:ext cx="6249924" cy="64008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3862303" y="18254263"/>
            <a:ext cx="6249924" cy="2429256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3862303" y="18254263"/>
            <a:ext cx="6249924" cy="64008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0404835" y="18254263"/>
            <a:ext cx="6249924" cy="2429256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0404835" y="18254263"/>
            <a:ext cx="6249924" cy="64008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777240" y="10547907"/>
            <a:ext cx="12792456" cy="2129789"/>
          </a:xfrm>
          <a:prstGeom prst="rect">
            <a:avLst/>
          </a:prstGeom>
          <a:solidFill>
            <a:srgbClr val="F2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77240" y="10547907"/>
            <a:ext cx="12792456" cy="54864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77240" y="20884687"/>
            <a:ext cx="17154144" cy="6490617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8223992" y="24731263"/>
            <a:ext cx="8430767" cy="2644041"/>
          </a:xfrm>
          <a:prstGeom prst="rect">
            <a:avLst/>
          </a:prstGeom>
          <a:solidFill>
            <a:srgbClr val="F2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777240" y="32156092"/>
            <a:ext cx="17154144" cy="2782824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777240" y="32156092"/>
            <a:ext cx="17154144" cy="64008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25877520" cy="1492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4800" b="1" i="0" dirty="0">
                <a:solidFill>
                  <a:srgbClr val="FFFFFF"/>
                </a:solidFill>
                <a:latin typeface="Roboto"/>
              </a:rPr>
              <a:t>Nine of Ten Muscle Sensors Worked in the Lab.</a:t>
            </a:r>
          </a:p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4800" b="1" i="0" dirty="0">
                <a:solidFill>
                  <a:srgbClr val="FFFFFF"/>
                </a:solidFill>
                <a:latin typeface="Roboto"/>
              </a:rPr>
              <a:t>On a Hot Roof, </a:t>
            </a:r>
            <a:r>
              <a:rPr lang="en-US" sz="4800" b="1" i="0" dirty="0">
                <a:solidFill>
                  <a:srgbClr val="FFFFFF"/>
                </a:solidFill>
                <a:latin typeface="Roboto"/>
              </a:rPr>
              <a:t>Only </a:t>
            </a:r>
            <a:r>
              <a:rPr sz="4800" b="1" i="0" dirty="0">
                <a:solidFill>
                  <a:srgbClr val="FFFFFF"/>
                </a:solidFill>
                <a:latin typeface="Roboto"/>
              </a:rPr>
              <a:t>Four Did.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43276"/>
            <a:ext cx="25877520" cy="536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0" i="0" dirty="0">
                <a:solidFill>
                  <a:srgbClr val="FFFFFF"/>
                </a:solidFill>
                <a:latin typeface="Roboto"/>
              </a:rPr>
              <a:t>Sujan </a:t>
            </a:r>
            <a:r>
              <a:rPr lang="en-US" sz="3200" b="0" i="0" dirty="0">
                <a:solidFill>
                  <a:srgbClr val="FFFFFF"/>
                </a:solidFill>
                <a:latin typeface="Roboto"/>
              </a:rPr>
              <a:t>Acharya and </a:t>
            </a:r>
            <a:r>
              <a:rPr sz="3200" b="0" i="0" dirty="0">
                <a:solidFill>
                  <a:srgbClr val="FFFFFF"/>
                </a:solidFill>
                <a:latin typeface="Roboto"/>
              </a:rPr>
              <a:t>Krishna P. Kisi, Ph.D., P.E.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01060"/>
            <a:ext cx="25877520" cy="536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0" i="0" dirty="0">
                <a:solidFill>
                  <a:srgbClr val="E8D9B8"/>
                </a:solidFill>
                <a:latin typeface="Roboto"/>
              </a:rPr>
              <a:t>Texas State University</a:t>
            </a:r>
          </a:p>
        </p:txBody>
      </p:sp>
      <p:pic>
        <p:nvPicPr>
          <p:cNvPr id="8" name="Picture 7" descr="tx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62" y="1080901"/>
            <a:ext cx="6513846" cy="14629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" y="5143804"/>
            <a:ext cx="10337291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501414"/>
                </a:solidFill>
                <a:latin typeface="Roboto"/>
              </a:rPr>
              <a:t>Nepali workers build in the heat.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1" y="5783011"/>
            <a:ext cx="12112115" cy="28024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3200" b="0" i="0" dirty="0">
                <a:solidFill>
                  <a:srgbClr val="34302B"/>
                </a:solidFill>
                <a:latin typeface="Roboto"/>
              </a:rPr>
              <a:t>Thousands of Nepali workers put up towers in the Gulf. Roofs at home go up the same way: in the sun, with nobody watching for heat strain.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 i="0" dirty="0">
                <a:solidFill>
                  <a:srgbClr val="34302B"/>
                </a:solidFill>
                <a:latin typeface="Roboto"/>
              </a:rPr>
              <a:t>Sensors worn on the body could warn a worker in time. Almost every test of those sensors has been run in a cool, quiet laboratory.</a:t>
            </a:r>
          </a:p>
        </p:txBody>
      </p:sp>
      <p:pic>
        <p:nvPicPr>
          <p:cNvPr id="11" name="Picture 10" descr="gulf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967" y="5207812"/>
            <a:ext cx="3843175" cy="2651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213967" y="5207812"/>
            <a:ext cx="3843175" cy="2651760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13967" y="7969300"/>
            <a:ext cx="3843175" cy="3806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 i="1" dirty="0">
                <a:solidFill>
                  <a:srgbClr val="6E6862"/>
                </a:solidFill>
                <a:latin typeface="Roboto"/>
              </a:rPr>
              <a:t>Gulf towers</a:t>
            </a:r>
          </a:p>
        </p:txBody>
      </p:sp>
      <p:pic>
        <p:nvPicPr>
          <p:cNvPr id="14" name="Picture 13" descr="gulf_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8311" y="5207812"/>
            <a:ext cx="4401412" cy="2651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7258311" y="5207812"/>
            <a:ext cx="4401412" cy="2651760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258311" y="7969300"/>
            <a:ext cx="4401412" cy="3806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 i="1" dirty="0">
                <a:solidFill>
                  <a:srgbClr val="6E6862"/>
                </a:solidFill>
                <a:latin typeface="Roboto"/>
              </a:rPr>
              <a:t>shift change in the heat</a:t>
            </a:r>
          </a:p>
        </p:txBody>
      </p:sp>
      <p:pic>
        <p:nvPicPr>
          <p:cNvPr id="17" name="Picture 16" descr="nepal_si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60892" y="5207812"/>
            <a:ext cx="3535679" cy="26517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1860892" y="5207812"/>
            <a:ext cx="3535679" cy="2651760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860892" y="7969300"/>
            <a:ext cx="3535679" cy="3806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 i="1" dirty="0">
                <a:solidFill>
                  <a:srgbClr val="6E6862"/>
                </a:solidFill>
                <a:latin typeface="Roboto"/>
              </a:rPr>
              <a:t>roof work at 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2E5A80"/>
                </a:solidFill>
                <a:latin typeface="Roboto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6794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 dirty="0">
                <a:solidFill>
                  <a:srgbClr val="B4531A"/>
                </a:solidFill>
                <a:latin typeface="Roboto"/>
              </a:rPr>
              <a:t>4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765041" y="18796807"/>
            <a:ext cx="274320" cy="128016"/>
          </a:xfrm>
          <a:prstGeom prst="rightArrow">
            <a:avLst/>
          </a:prstGeom>
          <a:solidFill>
            <a:srgbClr val="6E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2E5A80"/>
                </a:solidFill>
                <a:latin typeface="Roboto"/>
              </a:rPr>
              <a:t>LABORATORY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6794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B4531A"/>
                </a:solidFill>
                <a:latin typeface="Roboto"/>
              </a:rPr>
              <a:t>REAL 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19700539"/>
            <a:ext cx="5701284" cy="416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sensor channels we could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20162311"/>
            <a:ext cx="5701284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6E6862"/>
                </a:solidFill>
                <a:latin typeface="Roboto"/>
              </a:rPr>
              <a:t>out of 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9771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2E5A80"/>
                </a:solidFill>
                <a:latin typeface="Roboto"/>
              </a:rPr>
              <a:t>2.3×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9326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B4531A"/>
                </a:solidFill>
                <a:latin typeface="Roboto"/>
              </a:rPr>
              <a:t>1.3×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307574" y="18796807"/>
            <a:ext cx="274320" cy="128016"/>
          </a:xfrm>
          <a:prstGeom prst="rightArrow">
            <a:avLst/>
          </a:prstGeom>
          <a:solidFill>
            <a:srgbClr val="6E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9771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2E5A80"/>
                </a:solidFill>
                <a:latin typeface="Roboto"/>
              </a:rPr>
              <a:t>LABORATORY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9326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B4531A"/>
                </a:solidFill>
                <a:latin typeface="Roboto"/>
              </a:rPr>
              <a:t>REAL ROOF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94092" y="19700539"/>
            <a:ext cx="5701284" cy="416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signal working vs resting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94092" y="20162311"/>
            <a:ext cx="5701284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6E6862"/>
                </a:solidFill>
                <a:latin typeface="Roboto"/>
              </a:rPr>
              <a:t>higher is easier to 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2303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2E5A80"/>
                </a:solidFill>
                <a:latin typeface="Roboto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151857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B4531A"/>
                </a:solidFill>
                <a:latin typeface="Roboto"/>
              </a:rPr>
              <a:t>19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6850106" y="18796807"/>
            <a:ext cx="274320" cy="128016"/>
          </a:xfrm>
          <a:prstGeom prst="rightArrow">
            <a:avLst/>
          </a:prstGeom>
          <a:solidFill>
            <a:srgbClr val="6E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862303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2E5A80"/>
                </a:solidFill>
                <a:latin typeface="Roboto"/>
              </a:rPr>
              <a:t>LABORATORY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151857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B4531A"/>
                </a:solidFill>
                <a:latin typeface="Roboto"/>
              </a:rPr>
              <a:t>REAL ROOF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36624" y="19700539"/>
            <a:ext cx="5701284" cy="416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signal while resting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36624" y="20162311"/>
            <a:ext cx="5701284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µV at the lower 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404835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2E5A80"/>
                </a:solidFill>
                <a:latin typeface="Roboto"/>
              </a:rP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694389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B4531A"/>
                </a:solidFill>
                <a:latin typeface="Roboto"/>
              </a:rPr>
              <a:t>8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23392638" y="18796807"/>
            <a:ext cx="274320" cy="128016"/>
          </a:xfrm>
          <a:prstGeom prst="rightArrow">
            <a:avLst/>
          </a:prstGeom>
          <a:solidFill>
            <a:srgbClr val="6E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0404835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2E5A80"/>
                </a:solidFill>
                <a:latin typeface="Roboto"/>
              </a:rPr>
              <a:t>POSSIBLE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694389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B4531A"/>
                </a:solidFill>
                <a:latin typeface="Roboto"/>
              </a:rPr>
              <a:t>WE CAN READ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679156" y="19700539"/>
            <a:ext cx="5701284" cy="416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muscle-and-posture tests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679156" y="20162311"/>
            <a:ext cx="5701284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6E6862"/>
                </a:solidFill>
                <a:latin typeface="Roboto"/>
              </a:rPr>
              <a:t>kneeling and stooping</a:t>
            </a:r>
          </a:p>
        </p:txBody>
      </p:sp>
      <p:pic>
        <p:nvPicPr>
          <p:cNvPr id="67" name="Picture 66" descr="field_roo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62303" y="10547907"/>
            <a:ext cx="3391673" cy="2543755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13862303" y="10547907"/>
            <a:ext cx="3391673" cy="254375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3862303" y="13201391"/>
            <a:ext cx="3391673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>
                <a:solidFill>
                  <a:srgbClr val="6E6862"/>
                </a:solidFill>
                <a:latin typeface="Roboto"/>
              </a:rPr>
              <a:t>our roof platform</a:t>
            </a:r>
          </a:p>
        </p:txBody>
      </p:sp>
      <p:pic>
        <p:nvPicPr>
          <p:cNvPr id="70" name="Picture 69" descr="field_placemen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55145" y="10547907"/>
            <a:ext cx="1914175" cy="2543755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17455145" y="10547907"/>
            <a:ext cx="1914175" cy="254375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455145" y="13201391"/>
            <a:ext cx="2115344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on the worker</a:t>
            </a:r>
          </a:p>
        </p:txBody>
      </p:sp>
      <p:pic>
        <p:nvPicPr>
          <p:cNvPr id="73" name="Picture 72" descr="sensor_devic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70489" y="10547907"/>
            <a:ext cx="3491428" cy="2543755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19570489" y="10547907"/>
            <a:ext cx="3491428" cy="254375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9570489" y="13201391"/>
            <a:ext cx="3491428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the sensor itself</a:t>
            </a:r>
          </a:p>
        </p:txBody>
      </p:sp>
      <p:pic>
        <p:nvPicPr>
          <p:cNvPr id="76" name="Picture 75" descr="field_setu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263086" y="10547907"/>
            <a:ext cx="3391673" cy="2543755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23263086" y="10547907"/>
            <a:ext cx="3391673" cy="254375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3263086" y="13201391"/>
            <a:ext cx="3391673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the field station</a:t>
            </a: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3412360" y="13704311"/>
            <a:ext cx="13382882" cy="248716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3862303" y="16191479"/>
            <a:ext cx="12792456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One session day: 32.8 °C through the morning block, 38.9 °C by five.   NOAA station KHYI, San Marcos, 14 August 2025.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" y="10822227"/>
            <a:ext cx="12243816" cy="536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 dirty="0">
                <a:solidFill>
                  <a:srgbClr val="501414"/>
                </a:solidFill>
                <a:latin typeface="Roboto"/>
              </a:rPr>
              <a:t>A channel counts only if it passes all three checks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1" y="11459259"/>
            <a:ext cx="3782568" cy="397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1   Above the noise floor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1" y="11873025"/>
            <a:ext cx="3782568" cy="72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 dirty="0">
                <a:solidFill>
                  <a:srgbClr val="34302B"/>
                </a:solidFill>
                <a:latin typeface="Roboto"/>
              </a:rPr>
              <a:t>bigger than the sensor's own 3–5 µV noise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1560" y="11459259"/>
            <a:ext cx="50292" cy="1017269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364480" y="11459259"/>
            <a:ext cx="3782568" cy="397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2   Above its own rest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64480" y="11873025"/>
            <a:ext cx="3782568" cy="72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>
                <a:solidFill>
                  <a:srgbClr val="34302B"/>
                </a:solidFill>
                <a:latin typeface="Roboto"/>
              </a:rPr>
              <a:t>working signal beats the same channel at rest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99888" y="11459259"/>
            <a:ext cx="50292" cy="1017269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512808" y="11459259"/>
            <a:ext cx="3782568" cy="397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3   In the muscle band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12808" y="11873025"/>
            <a:ext cx="3782568" cy="72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>
                <a:solidFill>
                  <a:srgbClr val="34302B"/>
                </a:solidFill>
                <a:latin typeface="Roboto"/>
              </a:rPr>
              <a:t>median frequency between 50 and 150 Hz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348216" y="11459259"/>
            <a:ext cx="50292" cy="1017269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Picture 92" descr="lab_roof_task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6993" y="12878865"/>
            <a:ext cx="5347936" cy="3202885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2376993" y="12878865"/>
            <a:ext cx="5347936" cy="320288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376993" y="16191479"/>
            <a:ext cx="5347936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the same 30° platform, indoors</a:t>
            </a:r>
          </a:p>
        </p:txBody>
      </p:sp>
      <p:pic>
        <p:nvPicPr>
          <p:cNvPr id="96" name="Picture 95" descr="sensor_placeme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6098" y="12878865"/>
            <a:ext cx="4043843" cy="3202885"/>
          </a:xfrm>
          <a:prstGeom prst="rect">
            <a:avLst/>
          </a:prstGeom>
        </p:spPr>
      </p:pic>
      <p:sp>
        <p:nvSpPr>
          <p:cNvPr id="97" name="Rectangle 96"/>
          <p:cNvSpPr/>
          <p:nvPr/>
        </p:nvSpPr>
        <p:spPr>
          <a:xfrm>
            <a:off x="7926098" y="12878865"/>
            <a:ext cx="4043843" cy="320288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926098" y="16191479"/>
            <a:ext cx="4043843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>
                <a:solidFill>
                  <a:srgbClr val="6E6862"/>
                </a:solidFill>
                <a:latin typeface="Roboto"/>
              </a:rPr>
              <a:t>ten muscles, trunk to calf</a:t>
            </a:r>
          </a:p>
        </p:txBody>
      </p:sp>
      <p:pic>
        <p:nvPicPr>
          <p:cNvPr id="103" name="Picture 102" descr="P1_bodyma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" y="21104143"/>
            <a:ext cx="16696944" cy="6035040"/>
          </a:xfrm>
          <a:prstGeom prst="rect">
            <a:avLst/>
          </a:prstGeom>
        </p:spPr>
      </p:pic>
      <p:pic>
        <p:nvPicPr>
          <p:cNvPr id="105" name="Picture 104" descr="sweat_electrod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565158" y="20884687"/>
            <a:ext cx="5748437" cy="3209544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19565158" y="20884687"/>
            <a:ext cx="5748437" cy="3209544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8223992" y="24094231"/>
            <a:ext cx="8430767" cy="435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Illustration</a:t>
            </a:r>
            <a:r>
              <a:rPr lang="en-US" sz="2600" i="1" dirty="0">
                <a:solidFill>
                  <a:srgbClr val="6E6862"/>
                </a:solidFill>
                <a:latin typeface="Roboto"/>
              </a:rPr>
              <a:t> (AI generated)</a:t>
            </a:r>
            <a:endParaRPr sz="2600" b="0" i="1" dirty="0">
              <a:solidFill>
                <a:srgbClr val="6E6862"/>
              </a:solidFill>
              <a:latin typeface="Roboto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412232" y="24793648"/>
            <a:ext cx="7882127" cy="435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501414"/>
                </a:solidFill>
                <a:latin typeface="Roboto"/>
              </a:rPr>
              <a:t>Why this happened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361151" y="25229512"/>
            <a:ext cx="8293608" cy="1972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600" b="0" i="0" dirty="0">
                <a:solidFill>
                  <a:srgbClr val="34302B"/>
                </a:solidFill>
                <a:latin typeface="Roboto"/>
              </a:rPr>
              <a:t>Sweat breaks the contact, so the signal gets smaller.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600" b="0" i="0" dirty="0">
                <a:solidFill>
                  <a:srgbClr val="34302B"/>
                </a:solidFill>
                <a:latin typeface="Roboto"/>
              </a:rPr>
              <a:t>Heat and holding a posture lift the resting level.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34302B"/>
                </a:solidFill>
                <a:latin typeface="Roboto"/>
              </a:rPr>
              <a:t>Small muscles start closest to the noise, so they cross into it first.</a:t>
            </a:r>
          </a:p>
        </p:txBody>
      </p:sp>
      <p:pic>
        <p:nvPicPr>
          <p:cNvPr id="115" name="Picture 114" descr="P2_res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" y="27576471"/>
            <a:ext cx="9255268" cy="3216517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463811" y="30667144"/>
            <a:ext cx="8156447" cy="416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Rest is no longer rest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759847" y="31083196"/>
            <a:ext cx="7564374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6E6862"/>
                </a:solidFill>
                <a:latin typeface="Roboto"/>
              </a:rPr>
              <a:t>19 µV on the roof against 9 µV in the lab. </a:t>
            </a:r>
            <a:endParaRPr lang="en-US" sz="2600" b="0" i="0" dirty="0">
              <a:solidFill>
                <a:srgbClr val="6E6862"/>
              </a:solidFill>
              <a:latin typeface="Roboto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6E6862"/>
                </a:solidFill>
                <a:latin typeface="Roboto"/>
              </a:rPr>
              <a:t>Each dot is one worker.</a:t>
            </a:r>
          </a:p>
        </p:txBody>
      </p:sp>
      <p:pic>
        <p:nvPicPr>
          <p:cNvPr id="118" name="Picture 117" descr="P3_gri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37776" y="27576472"/>
            <a:ext cx="8156448" cy="2834640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9637776" y="30612280"/>
            <a:ext cx="8156447" cy="416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Most comparisons are gone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036181" y="31083196"/>
            <a:ext cx="5652244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6E6862"/>
                </a:solidFill>
                <a:latin typeface="Roboto"/>
              </a:rPr>
              <a:t>the leg muscles that matter for balance are the ones we lost</a:t>
            </a:r>
          </a:p>
        </p:txBody>
      </p:sp>
      <p:pic>
        <p:nvPicPr>
          <p:cNvPr id="121" name="Picture 120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8361152" y="27576472"/>
            <a:ext cx="8156447" cy="2834640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18361152" y="30612280"/>
            <a:ext cx="8156447" cy="416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The model inherits the damage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9570489" y="31083196"/>
            <a:ext cx="6197019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6E6862"/>
                </a:solidFill>
                <a:latin typeface="Roboto"/>
              </a:rPr>
              <a:t>trained one worker at a time, it lands at 49% on roof data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24128" y="3327166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00"/>
                </a:solidFill>
                <a:latin typeface="Roboto"/>
              </a:rPr>
              <a:t>What to take to Nepal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24128" y="33820300"/>
            <a:ext cx="4892040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600" b="0" i="1" dirty="0">
                <a:solidFill>
                  <a:srgbClr val="FFFF00"/>
                </a:solidFill>
                <a:latin typeface="Roboto"/>
              </a:rPr>
              <a:t>C</a:t>
            </a:r>
            <a:r>
              <a:rPr sz="2600" b="0" i="1" dirty="0">
                <a:solidFill>
                  <a:srgbClr val="FFFF00"/>
                </a:solidFill>
                <a:latin typeface="Roboto"/>
              </a:rPr>
              <a:t>heck the</a:t>
            </a:r>
            <a:r>
              <a:rPr lang="en-US" sz="2600" b="0" i="1" dirty="0">
                <a:solidFill>
                  <a:srgbClr val="FFFF00"/>
                </a:solidFill>
                <a:latin typeface="Roboto"/>
              </a:rPr>
              <a:t> sensors</a:t>
            </a:r>
            <a:r>
              <a:rPr sz="2600" b="0" i="1" dirty="0">
                <a:solidFill>
                  <a:srgbClr val="FFFF00"/>
                </a:solidFill>
                <a:latin typeface="Roboto"/>
              </a:rPr>
              <a:t> before the session, not after.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437376" y="32402980"/>
            <a:ext cx="3432048" cy="416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Roboto"/>
              </a:rPr>
              <a:t>Trunk first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37376" y="32873896"/>
            <a:ext cx="3432048" cy="1307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FFFF00"/>
                </a:solidFill>
                <a:latin typeface="Roboto"/>
              </a:rPr>
              <a:t>both sides of the lower back, plus one leg channel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236208" y="32439556"/>
            <a:ext cx="50292" cy="17419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0344912" y="32402980"/>
            <a:ext cx="3432048" cy="416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Roboto"/>
              </a:rPr>
              <a:t>Check the signal live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344912" y="32873896"/>
            <a:ext cx="3432048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FFFF00"/>
                </a:solidFill>
                <a:latin typeface="Roboto"/>
              </a:rPr>
              <a:t>a dead channel cannot be fixed later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143744" y="32439556"/>
            <a:ext cx="50292" cy="130606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4252448" y="32402980"/>
            <a:ext cx="3432048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Roboto"/>
              </a:rPr>
              <a:t>Teach it where workers train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4252448" y="33289948"/>
            <a:ext cx="3432048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FFFF00"/>
                </a:solidFill>
                <a:latin typeface="Roboto"/>
              </a:rPr>
              <a:t>vocational </a:t>
            </a:r>
            <a:r>
              <a:rPr sz="2600" b="0" i="0" dirty="0" err="1">
                <a:solidFill>
                  <a:srgbClr val="FFFF00"/>
                </a:solidFill>
                <a:latin typeface="Roboto"/>
              </a:rPr>
              <a:t>centres</a:t>
            </a:r>
            <a:r>
              <a:rPr sz="2600" b="0" i="0" dirty="0">
                <a:solidFill>
                  <a:srgbClr val="FFFF00"/>
                </a:solidFill>
                <a:latin typeface="Roboto"/>
              </a:rPr>
              <a:t>, pre-departure briefings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4051280" y="32439556"/>
            <a:ext cx="50292" cy="17221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777240" y="35048644"/>
            <a:ext cx="25877520" cy="27432"/>
          </a:xfrm>
          <a:prstGeom prst="rect">
            <a:avLst/>
          </a:prstGeom>
          <a:solidFill>
            <a:srgbClr val="DD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777240" y="35121796"/>
            <a:ext cx="25877520" cy="125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22 workers · 30° platform · one processing pipeline · every number here is computed from the recordings at print time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Reference</a:t>
            </a:r>
            <a:r>
              <a:rPr lang="en-US" sz="1800" b="0" i="0" dirty="0">
                <a:solidFill>
                  <a:srgbClr val="6E6862"/>
                </a:solidFill>
                <a:latin typeface="Roboto"/>
              </a:rPr>
              <a:t>: Acharya, S., Kisi, K., Gautam, S. R., Mahmud, T., &amp; Kayastha, R. (2025). A high-performance hybrid transformer–LSTM–</a:t>
            </a:r>
            <a:r>
              <a:rPr lang="en-US" sz="1800" b="0" i="0" dirty="0" err="1">
                <a:solidFill>
                  <a:srgbClr val="6E6862"/>
                </a:solidFill>
                <a:latin typeface="Roboto"/>
              </a:rPr>
              <a:t>XGBoost</a:t>
            </a:r>
            <a:r>
              <a:rPr lang="en-US" sz="1800" b="0" i="0" dirty="0">
                <a:solidFill>
                  <a:srgbClr val="6E6862"/>
                </a:solidFill>
                <a:latin typeface="Roboto"/>
              </a:rPr>
              <a:t> model for sEMG-based fatigue detection in simulated roofing postures. Buildings, 15(17), 3005.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Gulf and Nepal photographs: Imre Solt (CC BY-SA 3.0) and Adam Jones (CC BY-SA 2.0), via Wikimedia Commons.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Sweat-on-the-electrode image: made with Google Flow (Nano Banana 2).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0988798" y="1364324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Roboto"/>
              </a:rPr>
              <a:t>19th Annual ASNEngr Conference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0988798" y="1894675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E8D9B8"/>
                </a:solidFill>
                <a:latin typeface="Roboto"/>
              </a:rPr>
              <a:t>Houston, Texas · November 21, 2026</a:t>
            </a:r>
          </a:p>
        </p:txBody>
      </p:sp>
      <p:sp>
        <p:nvSpPr>
          <p:cNvPr id="141" name="Oval 140"/>
          <p:cNvSpPr/>
          <p:nvPr/>
        </p:nvSpPr>
        <p:spPr>
          <a:xfrm>
            <a:off x="777240" y="3964228"/>
            <a:ext cx="685800" cy="685800"/>
          </a:xfrm>
          <a:prstGeom prst="ellipse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700784" y="4002328"/>
            <a:ext cx="24953975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501414"/>
                </a:solidFill>
                <a:latin typeface="Roboto"/>
              </a:rPr>
              <a:t>Background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77240" y="4759756"/>
            <a:ext cx="25877519" cy="45720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777240" y="8746539"/>
            <a:ext cx="685800" cy="685800"/>
          </a:xfrm>
          <a:prstGeom prst="ellipse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700784" y="8784639"/>
            <a:ext cx="24953975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501414"/>
                </a:solidFill>
                <a:latin typeface="Roboto"/>
              </a:rPr>
              <a:t>Methodology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77240" y="9542067"/>
            <a:ext cx="25877519" cy="45720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77240" y="9715803"/>
            <a:ext cx="127924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501414"/>
                </a:solidFill>
                <a:latin typeface="Roboto"/>
              </a:rPr>
              <a:t>In the laboratory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3862304" y="9715803"/>
            <a:ext cx="127924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501414"/>
                </a:solidFill>
                <a:latin typeface="Roboto"/>
              </a:rPr>
              <a:t>On a real roof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77240" y="10337595"/>
            <a:ext cx="12792456" cy="27432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13862304" y="10337595"/>
            <a:ext cx="12792456" cy="27432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77240" y="16731787"/>
            <a:ext cx="12792456" cy="352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34302B"/>
                </a:solidFill>
                <a:latin typeface="Roboto"/>
              </a:rPr>
              <a:t>13 laboratory participants · 9 roof workers · Texas State University IRB #9962</a:t>
            </a:r>
          </a:p>
        </p:txBody>
      </p:sp>
      <p:sp>
        <p:nvSpPr>
          <p:cNvPr id="152" name="Oval 151"/>
          <p:cNvSpPr/>
          <p:nvPr/>
        </p:nvSpPr>
        <p:spPr>
          <a:xfrm>
            <a:off x="777240" y="17284999"/>
            <a:ext cx="685800" cy="685800"/>
          </a:xfrm>
          <a:prstGeom prst="ellipse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700784" y="17323099"/>
            <a:ext cx="24953975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501414"/>
                </a:solidFill>
                <a:latin typeface="Roboto"/>
              </a:rPr>
              <a:t>Results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77240" y="18080527"/>
            <a:ext cx="25877519" cy="45720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024128" y="32402980"/>
            <a:ext cx="685800" cy="685800"/>
          </a:xfrm>
          <a:prstGeom prst="ellipse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929384" y="32441079"/>
            <a:ext cx="54864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Roboto"/>
              </a:rPr>
              <a:t>Discussion</a:t>
            </a:r>
          </a:p>
        </p:txBody>
      </p:sp>
      <p:sp>
        <p:nvSpPr>
          <p:cNvPr id="157" name="Oval 156"/>
          <p:cNvSpPr/>
          <p:nvPr/>
        </p:nvSpPr>
        <p:spPr>
          <a:xfrm>
            <a:off x="18470880" y="32402980"/>
            <a:ext cx="685800" cy="685800"/>
          </a:xfrm>
          <a:prstGeom prst="ellipse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9376135" y="32441079"/>
            <a:ext cx="54864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501414"/>
                </a:solidFill>
                <a:latin typeface="Roboto"/>
              </a:rPr>
              <a:t>Limitations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8470880" y="33271660"/>
            <a:ext cx="7936992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4302B"/>
                </a:solidFill>
                <a:latin typeface="Roboto"/>
              </a:rPr>
              <a:t>Small groups of different people: 13 in the laboratory and 9 on the roof, not the same workers tested twice.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8223992" y="32156091"/>
            <a:ext cx="8430767" cy="64008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599</Words>
  <Application>Microsoft Office PowerPoint</Application>
  <PresentationFormat>Custom</PresentationFormat>
  <Paragraphs>88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Roboto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Acharya, Sujan</cp:lastModifiedBy>
  <cp:revision>39</cp:revision>
  <dcterms:created xsi:type="dcterms:W3CDTF">2013-01-27T09:14:16Z</dcterms:created>
  <dcterms:modified xsi:type="dcterms:W3CDTF">2026-09-21T04:08:10Z</dcterms:modified>
  <cp:category/>
</cp:coreProperties>
</file>